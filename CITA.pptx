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18.svg" ContentType="image/svg"/>
  <Override PartName="/ppt/media/image20.svg" ContentType="image/svg"/>
  <Override PartName="/ppt/media/image11.svg" ContentType="image/svg"/>
  <Override PartName="/ppt/media/image9.svg" ContentType="image/svg"/>
  <Override PartName="/ppt/media/image5.svg" ContentType="image/svg"/>
  <Override PartName="/ppt/media/image16.svg" ContentType="image/svg"/>
  <Override PartName="/ppt/media/image7.svg" ContentType="image/svg"/>
  <Override PartName="/ppt/media/image14.svg" ContentType="image/svg"/>
  <Override PartName="/ppt/media/image3.svg" ContentType="image/svg"/>
  <Override PartName="/ppt/media/image25.svg" ContentType="image/svg"/>
  <Override PartName="/ppt/media/image22.svg" ContentType="image/svg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4630400" cy="8229600"/>
  <p:notesSz cx="8229600" cy="14630400"/>
  <p:embeddedFontLst>
    <p:embeddedFont>
      <p:font typeface="Montserrat Black"/>
    </p:embeddedFont>
    <p:embeddedFont>
      <p:font typeface="Calibri Light"/>
    </p:embeddedFont>
    <p:embeddedFont>
      <p:font typeface="FreeSerif"/>
      <p:regular r:id="rId16"/>
      <p:bold r:id="rId17"/>
      <p:italic r:id="rId18"/>
      <p:boldItalic r:id="rId19"/>
    </p:embeddedFont>
    <p:embeddedFont>
      <p:font typeface="Inconsolata"/>
      <p:regular r:id="rId20"/>
    </p:embeddedFont>
    <p:embeddedFont>
      <p:font typeface="FreeSans"/>
      <p:regular r:id="rId21"/>
      <p:bold r:id="rId2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_1_FreeSerif_Regular.fntdata"/><Relationship Id="rId17" Type="http://schemas.openxmlformats.org/officeDocument/2006/relationships/font" Target="fonts/Font_2_FreeSerif_Bold.fntdata"/><Relationship Id="rId18" Type="http://schemas.openxmlformats.org/officeDocument/2006/relationships/font" Target="fonts/Font_3_FreeSerif_Italic.fntdata"/><Relationship Id="rId19" Type="http://schemas.openxmlformats.org/officeDocument/2006/relationships/font" Target="fonts/Font_4_FreeSerif_BoldItalic.fntdata"/><Relationship Id="rId20" Type="http://schemas.openxmlformats.org/officeDocument/2006/relationships/font" Target="fonts/Font_5_Inconsolata_Regular.fntdata"/><Relationship Id="rId21" Type="http://schemas.openxmlformats.org/officeDocument/2006/relationships/font" Target="fonts/Font_6_FreeSans_Regular.fntdata"/><Relationship Id="rId22" Type="http://schemas.openxmlformats.org/officeDocument/2006/relationships/font" Target="fonts/Font_7_FreeSans_Bold.fntdata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02538A8C-4212-4A0B-AEAF-9A8A2E7AE1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FDB8FC-39E0-4555-ADC5-7EEC4846A7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9FB3A8-6CE5-473C-991E-1E49F1E657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CDF40A-FCAB-4B83-B92B-5ACECE69528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679547-70BA-433E-833D-02483500AD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1DA921-1FD6-4AA8-8154-6C1319B6F87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5D558E-0F17-4785-ADDA-2D5E200C99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8DFA46-8D0D-4C0F-9A49-FB57F0C4717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659C78-DE04-405D-908A-0F0FAFC719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01D7C5-E02D-466F-A850-DD71C7B97F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7AFFF0-6C7B-42FF-BFCD-1DB511B001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D413E3-245F-42DF-B7FD-8E48735982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19F1A1-093F-4460-8805-8B2B516BE0D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8e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8ec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the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sv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793800" y="3099960"/>
            <a:ext cx="111747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Log-Based Attack Pattern Visualizer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93800" y="41486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Name - Budugu Vamshi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93800" y="47667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Enrollment number - 23STUCHH011066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793800" y="2307960"/>
            <a:ext cx="997200" cy="425880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" name="Text 1"/>
          <p:cNvSpPr/>
          <p:nvPr/>
        </p:nvSpPr>
        <p:spPr>
          <a:xfrm>
            <a:off x="929880" y="2375640"/>
            <a:ext cx="7250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OVERVIEW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8" name="Text 2"/>
          <p:cNvSpPr/>
          <p:nvPr/>
        </p:nvSpPr>
        <p:spPr>
          <a:xfrm>
            <a:off x="793800" y="282492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Introduction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793800" y="3873600"/>
            <a:ext cx="4196160" cy="2047680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762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028160" y="4107960"/>
            <a:ext cx="32356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Pattern Visualization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028160" y="4598640"/>
            <a:ext cx="372708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Visualizes suspicious attack patterns from authentication and system logs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5217120" y="3873600"/>
            <a:ext cx="4196160" cy="2047680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762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451480" y="4107960"/>
            <a:ext cx="30049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Intrusion Detection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4" name="Text 8"/>
          <p:cNvSpPr/>
          <p:nvPr/>
        </p:nvSpPr>
        <p:spPr>
          <a:xfrm>
            <a:off x="5451480" y="4598640"/>
            <a:ext cx="3727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Identifies intrusion behaviors such as repeated login failures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9640080" y="3873600"/>
            <a:ext cx="4196160" cy="2047680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762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9874440" y="4107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DFIR Tool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9874440" y="4598640"/>
            <a:ext cx="3727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Lightweight and rule-based digital forensics assistive tool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793800" y="2486880"/>
            <a:ext cx="60069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Problem Statement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793800" y="3649320"/>
            <a:ext cx="4196160" cy="2093400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763200" y="3649320"/>
            <a:ext cx="121680" cy="20934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1" name="Text 3"/>
          <p:cNvSpPr/>
          <p:nvPr/>
        </p:nvSpPr>
        <p:spPr>
          <a:xfrm>
            <a:off x="1142640" y="3906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Volume Challenge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42640" y="4396680"/>
            <a:ext cx="35899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Security logs are large and difficult to interpret manually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5217120" y="3649320"/>
            <a:ext cx="4196160" cy="2093400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5186520" y="3649320"/>
            <a:ext cx="121680" cy="20934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5" name="Text 7"/>
          <p:cNvSpPr/>
          <p:nvPr/>
        </p:nvSpPr>
        <p:spPr>
          <a:xfrm>
            <a:off x="5565600" y="3906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Time Constraint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6" name="Text 8"/>
          <p:cNvSpPr/>
          <p:nvPr/>
        </p:nvSpPr>
        <p:spPr>
          <a:xfrm>
            <a:off x="5565600" y="4396680"/>
            <a:ext cx="35899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Detecting attack patterns manually is time-consuming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9640080" y="3649320"/>
            <a:ext cx="4196160" cy="2093400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9609480" y="3649320"/>
            <a:ext cx="121680" cy="20934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9988920" y="3906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Tool Gap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9988920" y="4396680"/>
            <a:ext cx="35899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Need simple tools for quick suspicious activity understanding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793800" y="1240200"/>
            <a:ext cx="589464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What Logs Contain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3800" y="240228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"/>
          <p:cNvSpPr/>
          <p:nvPr/>
        </p:nvSpPr>
        <p:spPr>
          <a:xfrm>
            <a:off x="793800" y="3252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Timestamp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44" name="Text 2"/>
          <p:cNvSpPr/>
          <p:nvPr/>
        </p:nvSpPr>
        <p:spPr>
          <a:xfrm>
            <a:off x="793800" y="3743280"/>
            <a:ext cx="415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Precise timing of each event occurrence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35840" y="240228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3"/>
          <p:cNvSpPr/>
          <p:nvPr/>
        </p:nvSpPr>
        <p:spPr>
          <a:xfrm>
            <a:off x="5235840" y="3252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Identity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235840" y="3743280"/>
            <a:ext cx="415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User or system identity information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4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77880" y="240228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5"/>
          <p:cNvSpPr/>
          <p:nvPr/>
        </p:nvSpPr>
        <p:spPr>
          <a:xfrm>
            <a:off x="9677880" y="3252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Source IP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0" name="Text 6"/>
          <p:cNvSpPr/>
          <p:nvPr/>
        </p:nvSpPr>
        <p:spPr>
          <a:xfrm>
            <a:off x="9677880" y="3743280"/>
            <a:ext cx="415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Origin address of the connection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5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93800" y="492264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793800" y="5773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Event Type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3" name="Text 8"/>
          <p:cNvSpPr/>
          <p:nvPr/>
        </p:nvSpPr>
        <p:spPr>
          <a:xfrm>
            <a:off x="793800" y="6263640"/>
            <a:ext cx="415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Login success, failure, and other actions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54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235840" y="492264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9"/>
          <p:cNvSpPr/>
          <p:nvPr/>
        </p:nvSpPr>
        <p:spPr>
          <a:xfrm>
            <a:off x="5235840" y="5773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System Source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5235840" y="6263640"/>
            <a:ext cx="415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Service or system generating the log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793800" y="2543400"/>
            <a:ext cx="1050804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How Attackers Interact With Logs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793800" y="3592440"/>
            <a:ext cx="3090240" cy="2093400"/>
          </a:xfrm>
          <a:prstGeom prst="roundRect">
            <a:avLst>
              <a:gd name="adj" fmla="val 437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Text 2"/>
          <p:cNvSpPr/>
          <p:nvPr/>
        </p:nvSpPr>
        <p:spPr>
          <a:xfrm>
            <a:off x="1051200" y="3849480"/>
            <a:ext cx="25754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Brute-Force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051200" y="4340160"/>
            <a:ext cx="25754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Repeated login attempts to crack passwords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111200" y="3592440"/>
            <a:ext cx="3090240" cy="2093400"/>
          </a:xfrm>
          <a:prstGeom prst="roundRect">
            <a:avLst>
              <a:gd name="adj" fmla="val 437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2" name="Text 5"/>
          <p:cNvSpPr/>
          <p:nvPr/>
        </p:nvSpPr>
        <p:spPr>
          <a:xfrm>
            <a:off x="4368240" y="3849480"/>
            <a:ext cx="25758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Unusual Hours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368240" y="4340160"/>
            <a:ext cx="2575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Access attempts during off-peak times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7428600" y="3592440"/>
            <a:ext cx="3090240" cy="2093400"/>
          </a:xfrm>
          <a:prstGeom prst="roundRect">
            <a:avLst>
              <a:gd name="adj" fmla="val 437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5" name="Text 8"/>
          <p:cNvSpPr/>
          <p:nvPr/>
        </p:nvSpPr>
        <p:spPr>
          <a:xfrm>
            <a:off x="7686000" y="3849480"/>
            <a:ext cx="25758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Unauthorized Access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6" name="Text 9"/>
          <p:cNvSpPr/>
          <p:nvPr/>
        </p:nvSpPr>
        <p:spPr>
          <a:xfrm>
            <a:off x="7686000" y="4694400"/>
            <a:ext cx="2575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Attempts to breach restricted systems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10746000" y="3592440"/>
            <a:ext cx="3090240" cy="2093400"/>
          </a:xfrm>
          <a:prstGeom prst="roundRect">
            <a:avLst>
              <a:gd name="adj" fmla="val 437"/>
            </a:avLst>
          </a:prstGeom>
          <a:solidFill>
            <a:srgbClr val="f8ece4"/>
          </a:solidFill>
          <a:ln w="30480">
            <a:solidFill>
              <a:srgbClr val="151617"/>
            </a:solidFill>
            <a:round/>
          </a:ln>
          <a:effectLst>
            <a:outerShdw algn="bl" dir="2700000" dist="19855" kx="0" ky="0" rotWithShape="0" sx="100000" sy="100000">
              <a:srgbClr val="15161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11003400" y="3849480"/>
            <a:ext cx="25758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Noise Generation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11003400" y="4694400"/>
            <a:ext cx="2575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Creating false entries to hide traces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793800" y="646560"/>
            <a:ext cx="921600" cy="441000"/>
          </a:xfrm>
          <a:prstGeom prst="roundRect">
            <a:avLst>
              <a:gd name="adj" fmla="val 2071"/>
            </a:avLst>
          </a:prstGeom>
          <a:noFill/>
          <a:ln w="7620">
            <a:solidFill>
              <a:srgbClr val="1516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1" name="Text 1"/>
          <p:cNvSpPr/>
          <p:nvPr/>
        </p:nvSpPr>
        <p:spPr>
          <a:xfrm>
            <a:off x="937440" y="722160"/>
            <a:ext cx="634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2" name="Text 2"/>
          <p:cNvSpPr/>
          <p:nvPr/>
        </p:nvSpPr>
        <p:spPr>
          <a:xfrm>
            <a:off x="793800" y="1178640"/>
            <a:ext cx="71953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DFIR Response Process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1002600" y="2227680"/>
            <a:ext cx="12624840" cy="473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784600" y="3434400"/>
            <a:ext cx="651600" cy="6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3"/>
          <p:cNvSpPr/>
          <p:nvPr/>
        </p:nvSpPr>
        <p:spPr>
          <a:xfrm>
            <a:off x="11203560" y="5631480"/>
            <a:ext cx="1904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849"/>
              </a:lnSpc>
              <a:tabLst>
                <a:tab algn="l" pos="0"/>
              </a:tabLst>
            </a:pPr>
            <a:r>
              <a:rPr lang="en-US" sz="23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Investigation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397080" y="3435480"/>
            <a:ext cx="651600" cy="6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4"/>
          <p:cNvSpPr/>
          <p:nvPr/>
        </p:nvSpPr>
        <p:spPr>
          <a:xfrm>
            <a:off x="8803800" y="5448240"/>
            <a:ext cx="1904040" cy="11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849"/>
              </a:lnSpc>
              <a:tabLst>
                <a:tab algn="l" pos="0"/>
              </a:tabLst>
            </a:pPr>
            <a:r>
              <a:rPr lang="en-US" sz="23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Triage &amp; Prioritization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78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010280" y="3435480"/>
            <a:ext cx="651600" cy="6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5"/>
          <p:cNvSpPr/>
          <p:nvPr/>
        </p:nvSpPr>
        <p:spPr>
          <a:xfrm>
            <a:off x="6417000" y="5631480"/>
            <a:ext cx="1904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849"/>
              </a:lnSpc>
              <a:tabLst>
                <a:tab algn="l" pos="0"/>
              </a:tabLst>
            </a:pPr>
            <a:r>
              <a:rPr lang="en-US" sz="23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Pattern Analysis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80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623480" y="3435480"/>
            <a:ext cx="651600" cy="6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6"/>
          <p:cNvSpPr/>
          <p:nvPr/>
        </p:nvSpPr>
        <p:spPr>
          <a:xfrm>
            <a:off x="4030200" y="5448240"/>
            <a:ext cx="1904040" cy="11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849"/>
              </a:lnSpc>
              <a:tabLst>
                <a:tab algn="l" pos="0"/>
              </a:tabLst>
            </a:pPr>
            <a:r>
              <a:rPr lang="en-US" sz="23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Event Identification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82" name="Image 5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223720" y="3435480"/>
            <a:ext cx="651600" cy="6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7"/>
          <p:cNvSpPr/>
          <p:nvPr/>
        </p:nvSpPr>
        <p:spPr>
          <a:xfrm>
            <a:off x="1591200" y="5631480"/>
            <a:ext cx="1904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849"/>
              </a:lnSpc>
              <a:tabLst>
                <a:tab algn="l" pos="0"/>
              </a:tabLst>
            </a:pPr>
            <a:r>
              <a:rPr lang="en-US" sz="23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Log Collection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4" name="Text 8"/>
          <p:cNvSpPr/>
          <p:nvPr/>
        </p:nvSpPr>
        <p:spPr>
          <a:xfrm>
            <a:off x="793800" y="72201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A systematic approach to digital forensics and incident response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793800" y="12654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Project Workflow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793800" y="2569680"/>
            <a:ext cx="8283600" cy="357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"/>
          <p:cNvSpPr/>
          <p:nvPr/>
        </p:nvSpPr>
        <p:spPr>
          <a:xfrm>
            <a:off x="1351080" y="5464440"/>
            <a:ext cx="18792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Montserrat Black"/>
                <a:ea typeface="Montserrat Black"/>
              </a:rPr>
              <a:t>Grouping Patterns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8" name="Text 2"/>
          <p:cNvSpPr/>
          <p:nvPr/>
        </p:nvSpPr>
        <p:spPr>
          <a:xfrm>
            <a:off x="1351080" y="4637520"/>
            <a:ext cx="2222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Montserrat Black"/>
                <a:ea typeface="Montserrat Black"/>
              </a:rPr>
              <a:t>Rule-Based Detection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351080" y="3818880"/>
            <a:ext cx="18792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Montserrat Black"/>
                <a:ea typeface="Montserrat Black"/>
              </a:rPr>
              <a:t>Parsing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351080" y="2991960"/>
            <a:ext cx="18792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Montserrat Black"/>
                <a:ea typeface="Montserrat Black"/>
              </a:rPr>
              <a:t>Input Logs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1" name="Text 5"/>
          <p:cNvSpPr/>
          <p:nvPr/>
        </p:nvSpPr>
        <p:spPr>
          <a:xfrm>
            <a:off x="793800" y="6397200"/>
            <a:ext cx="8283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Streamlined process from raw logs to actionable insights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9475560" y="2314440"/>
            <a:ext cx="4531680" cy="4649400"/>
          </a:xfrm>
          <a:prstGeom prst="roundRect">
            <a:avLst>
              <a:gd name="adj" fmla="val 202"/>
            </a:avLst>
          </a:prstGeom>
          <a:solidFill>
            <a:srgbClr val="1516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3" name="Text 7"/>
          <p:cNvSpPr/>
          <p:nvPr/>
        </p:nvSpPr>
        <p:spPr>
          <a:xfrm>
            <a:off x="9702360" y="3634200"/>
            <a:ext cx="30708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Montserrat Black"/>
                <a:ea typeface="Montserrat Black"/>
              </a:rPr>
              <a:t>Automated Pipeline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4" name="Text 8"/>
          <p:cNvSpPr/>
          <p:nvPr/>
        </p:nvSpPr>
        <p:spPr>
          <a:xfrm>
            <a:off x="9702360" y="4215240"/>
            <a:ext cx="40777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Inconsolata"/>
                <a:ea typeface="Inconsolata"/>
              </a:rPr>
              <a:t>The workflow transforms unstructured log data into clear visual patterns, enabling rapid threat identification and response.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793800" y="1327680"/>
            <a:ext cx="63522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System Components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6" name="Text 1"/>
          <p:cNvSpPr/>
          <p:nvPr/>
        </p:nvSpPr>
        <p:spPr>
          <a:xfrm>
            <a:off x="891720" y="2741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Log Parser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7" name="Text 2"/>
          <p:cNvSpPr/>
          <p:nvPr/>
        </p:nvSpPr>
        <p:spPr>
          <a:xfrm>
            <a:off x="878040" y="3150360"/>
            <a:ext cx="30477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Extracts structured data from raw log entries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8" name="Text 3"/>
          <p:cNvSpPr/>
          <p:nvPr/>
        </p:nvSpPr>
        <p:spPr>
          <a:xfrm>
            <a:off x="4125240" y="4968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Pattern Detector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125240" y="5458680"/>
            <a:ext cx="30477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Applies rules to identify suspicious behaviors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457040" y="2587320"/>
            <a:ext cx="30477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Visualization Module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7457040" y="2968920"/>
            <a:ext cx="304776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Creates visual representations of attack patterns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10788480" y="4968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Output Module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10788480" y="5458680"/>
            <a:ext cx="30477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Generates reports and actionable insights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793800" y="171648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Technology Stack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793800" y="29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Core Language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793800" y="3573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Built with </a:t>
            </a:r>
            <a:r>
              <a:rPr lang="en-US" sz="1750" b="1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Python</a:t>
            </a: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 for flexibility and ease of use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793800" y="4163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Key Libraries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93800" y="4744440"/>
            <a:ext cx="624420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re (pattern matching)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datetime (temporal analysis)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collections (data structures)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matplotlib (visualization)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7599600" y="29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Platform Support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7599600" y="3573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Runs seamlessly on Linux, Windows, and macOS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599600" y="4163040"/>
            <a:ext cx="30326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Lightweight Design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7599600" y="474444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No external frameworks or specialized hardware required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790920" y="623880"/>
            <a:ext cx="1174320" cy="423720"/>
          </a:xfrm>
          <a:prstGeom prst="roundRect">
            <a:avLst>
              <a:gd name="adj" fmla="val 2156"/>
            </a:avLst>
          </a:prstGeom>
          <a:solidFill>
            <a:srgbClr val="e4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1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26280" y="745560"/>
            <a:ext cx="180360" cy="18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"/>
          <p:cNvSpPr/>
          <p:nvPr/>
        </p:nvSpPr>
        <p:spPr>
          <a:xfrm>
            <a:off x="1197360" y="691920"/>
            <a:ext cx="63216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SUMMARY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790920" y="1137960"/>
            <a:ext cx="564948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Methodology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17" name="Image 1" descr="preencoded.png"/>
          <p:cNvPicPr/>
          <p:nvPr/>
        </p:nvPicPr>
        <p:blipFill>
          <a:blip r:embed="rId3"/>
          <a:stretch/>
        </p:blipFill>
        <p:spPr>
          <a:xfrm>
            <a:off x="790920" y="2181960"/>
            <a:ext cx="1129680" cy="13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2145960" y="2408040"/>
            <a:ext cx="2824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Parse Logs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2145960" y="2896200"/>
            <a:ext cx="11693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Extract structured data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0" name="Image 2" descr="preencoded.png"/>
          <p:cNvPicPr/>
          <p:nvPr/>
        </p:nvPicPr>
        <p:blipFill>
          <a:blip r:embed="rId4"/>
          <a:stretch/>
        </p:blipFill>
        <p:spPr>
          <a:xfrm>
            <a:off x="790920" y="3537720"/>
            <a:ext cx="1129680" cy="13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5"/>
          <p:cNvSpPr/>
          <p:nvPr/>
        </p:nvSpPr>
        <p:spPr>
          <a:xfrm>
            <a:off x="2145960" y="3763800"/>
            <a:ext cx="2824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Detect Patterns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2145960" y="4251960"/>
            <a:ext cx="11693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Identify suspicious behaviors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3" name="Image 3" descr="preencoded.png"/>
          <p:cNvPicPr/>
          <p:nvPr/>
        </p:nvPicPr>
        <p:blipFill>
          <a:blip r:embed="rId5"/>
          <a:stretch/>
        </p:blipFill>
        <p:spPr>
          <a:xfrm>
            <a:off x="790920" y="4893840"/>
            <a:ext cx="1129680" cy="13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7"/>
          <p:cNvSpPr/>
          <p:nvPr/>
        </p:nvSpPr>
        <p:spPr>
          <a:xfrm>
            <a:off x="2145960" y="5119560"/>
            <a:ext cx="2824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Group Events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2145960" y="5607720"/>
            <a:ext cx="11693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Cluster related activities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6" name="Image 4" descr="preencoded.png"/>
          <p:cNvPicPr/>
          <p:nvPr/>
        </p:nvPicPr>
        <p:blipFill>
          <a:blip r:embed="rId6"/>
          <a:stretch/>
        </p:blipFill>
        <p:spPr>
          <a:xfrm>
            <a:off x="790920" y="6249600"/>
            <a:ext cx="1129680" cy="135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9"/>
          <p:cNvSpPr/>
          <p:nvPr/>
        </p:nvSpPr>
        <p:spPr>
          <a:xfrm>
            <a:off x="2145960" y="6475680"/>
            <a:ext cx="282456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Generate Output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2145960" y="6963840"/>
            <a:ext cx="116931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Create visual and textual reports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793800" y="26888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Limitations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3800" y="3851280"/>
            <a:ext cx="1304244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Works only on static logs (no real-time monitoring).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Rule-based detection may produce false positives.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Visualization is simplified for demonstration purposes.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Does not replace professional security analysis tools.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793800" y="290988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lang="en-US" sz="4450" b="1" u="none" strike="noStrike">
                <a:solidFill>
                  <a:srgbClr val="151617"/>
                </a:solidFill>
                <a:effectLst/>
                <a:uFillTx/>
                <a:latin typeface="Montserrat Black"/>
                <a:ea typeface="Montserrat Black"/>
              </a:rPr>
              <a:t>Conclusion</a:t>
            </a:r>
            <a:endParaRPr lang="en-US" sz="44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93800" y="4072320"/>
            <a:ext cx="13042440" cy="12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The project demonstrates how attack patterns can be identified and visualized from logs.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It improves understanding of suspicious behavior using simple and explainable methods.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343080" indent="-343080">
              <a:lnSpc>
                <a:spcPts val="2849"/>
              </a:lnSpc>
              <a:buClr>
                <a:srgbClr val="151617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151617"/>
                </a:solidFill>
                <a:effectLst/>
                <a:uFillTx/>
                <a:latin typeface="Inconsolata"/>
                <a:ea typeface="Inconsolata"/>
              </a:rPr>
              <a:t>Focuses on clarity, simplicity, and reproducibility.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2026-02-16T15:21:48Z</dcterms:created>
  <dc:creator/>
  <dc:description/>
  <dc:language>en-US</dc:language>
  <cp:lastModifiedBy/>
  <dcterms:modified xsi:type="dcterms:W3CDTF">2026-02-17T19:37:16Z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